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365760"/>
          <a:lstStyle/>
          <a:p>
            <a:pPr algn="ctr">
              <a:defRPr b="1" sz="1600">
                <a:solidFill>
                  <a:srgbClr val="0D9488"/>
                </a:solidFill>
              </a:defRPr>
            </a:pPr>
            <a:r>
              <a:t>SMART INDIA HACKATHON 2026</a:t>
            </a:r>
          </a:p>
          <a:p>
            <a:pPr algn="ctr">
              <a:defRPr b="1" sz="2200">
                <a:solidFill>
                  <a:srgbClr val="0F172A"/>
                </a:solidFill>
              </a:defRPr>
            </a:pPr>
            <a:r>
              <a:t>NORTHEAST INDIA LOGISTICS RESILIENCE PLATFORM (NER-LRP)</a:t>
            </a:r>
          </a:p>
          <a:p>
            <a:pPr algn="ctr">
              <a:defRPr sz="1300">
                <a:solidFill>
                  <a:srgbClr val="64748B"/>
                </a:solidFill>
              </a:defRPr>
            </a:pPr>
            <a:r>
              <a:t>AI &amp; GIS-Driven Predictive Disruption Management &amp; Resilient Logistics Control Tower</a:t>
            </a:r>
          </a:p>
          <a:p>
            <a:pPr algn="ctr">
              <a:defRPr sz="1000">
                <a:solidFill>
                  <a:srgbClr val="CBD5E1"/>
                </a:solidFill>
              </a:defRPr>
            </a:pPr>
            <a:r>
              <a:t>―――――――――――――――――――――――――――――――――――――――――――――――――――――――</a:t>
            </a:r>
          </a:p>
          <a:p>
            <a:r>
              <a:rPr b="1" sz="1200">
                <a:solidFill>
                  <a:srgbClr val="1E3A8A"/>
                </a:solidFill>
              </a:rPr>
              <a:t>• Problem Statement ID: </a:t>
            </a:r>
            <a:r>
              <a:rPr sz="1200">
                <a:solidFill>
                  <a:srgbClr val="1E293B"/>
                </a:solidFill>
              </a:rPr>
              <a:t>SIH26002</a:t>
            </a:r>
          </a:p>
          <a:p>
            <a:r>
              <a:rPr b="1" sz="1200">
                <a:solidFill>
                  <a:srgbClr val="1E3A8A"/>
                </a:solidFill>
              </a:rPr>
              <a:t>• Problem Statement Title: </a:t>
            </a:r>
            <a:r>
              <a:rPr sz="1200">
                <a:solidFill>
                  <a:srgbClr val="1E293B"/>
                </a:solidFill>
              </a:rPr>
              <a:t>Predictive Logistics Decision Support &amp; Infrastructure Disruption Management in NER</a:t>
            </a:r>
          </a:p>
          <a:p>
            <a:r>
              <a:rPr b="1" sz="1200">
                <a:solidFill>
                  <a:srgbClr val="1E3A8A"/>
                </a:solidFill>
              </a:rPr>
              <a:t>• Theme: </a:t>
            </a:r>
            <a:r>
              <a:rPr sz="1200">
                <a:solidFill>
                  <a:srgbClr val="1E293B"/>
                </a:solidFill>
              </a:rPr>
              <a:t>Transportation &amp; Logistics / Disaster Management / Smart Automation</a:t>
            </a:r>
          </a:p>
          <a:p>
            <a:r>
              <a:rPr b="1" sz="1200">
                <a:solidFill>
                  <a:srgbClr val="1E3A8A"/>
                </a:solidFill>
              </a:rPr>
              <a:t>• PS Category: </a:t>
            </a:r>
            <a:r>
              <a:rPr sz="1200">
                <a:solidFill>
                  <a:srgbClr val="1E293B"/>
                </a:solidFill>
              </a:rPr>
              <a:t>Software (AI/ML + Full-Stack Web + Offline-First PWA + GIS)</a:t>
            </a:r>
          </a:p>
          <a:p>
            <a:r>
              <a:rPr b="1" sz="1200">
                <a:solidFill>
                  <a:srgbClr val="1E3A8A"/>
                </a:solidFill>
              </a:rPr>
              <a:t>• Team ID: </a:t>
            </a:r>
            <a:r>
              <a:rPr sz="1200">
                <a:solidFill>
                  <a:srgbClr val="1E293B"/>
                </a:solidFill>
              </a:rPr>
              <a:t>[Your Team ID]</a:t>
            </a:r>
          </a:p>
          <a:p>
            <a:r>
              <a:rPr b="1" sz="1200">
                <a:solidFill>
                  <a:srgbClr val="1E3A8A"/>
                </a:solidFill>
              </a:rPr>
              <a:t>• Team Name: </a:t>
            </a:r>
            <a:r>
              <a:rPr sz="1200">
                <a:solidFill>
                  <a:srgbClr val="1E293B"/>
                </a:solidFill>
              </a:rPr>
              <a:t>[Your Team Name - Registered on SIH Portal]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PROPOSED SOLUTION: NER-LRP CONTROL TOWER</a:t>
            </a:r>
          </a:p>
          <a:p>
            <a:pPr>
              <a:defRPr sz="1000">
                <a:solidFill>
                  <a:srgbClr val="10B981"/>
                </a:solidFill>
                <a:latin typeface="Arial"/>
              </a:defRPr>
            </a:pPr>
            <a:r>
              <a:t>SMART INDIA HACKATHON 2026  |  SIH 2026 Idea Submission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NER-LRP: AI &amp; GIS-Driven Regional Logistics Control Tower for Northeast India  |  @SIH Idea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400">
                <a:solidFill>
                  <a:srgbClr val="1E3A8A"/>
                </a:solidFill>
              </a:defRPr>
            </a:pPr>
            <a:r>
              <a:t>Detailed Explanation of Proposed Solution</a:t>
            </a:r>
          </a:p>
          <a:p>
            <a:r>
              <a:rPr b="1" sz="1050">
                <a:solidFill>
                  <a:srgbClr val="0F172A"/>
                </a:solidFill>
              </a:rPr>
              <a:t>• Sense-Predict-Decide-Act Framework:</a:t>
            </a:r>
            <a:r>
              <a:rPr sz="1050">
                <a:solidFill>
                  <a:srgbClr val="1E293B"/>
                </a:solidFill>
              </a:rPr>
              <a:t> Unified regional control tower integrating live satellite weather, terrain slope gradients, and road topologies.</a:t>
            </a:r>
          </a:p>
          <a:p>
            <a:r>
              <a:rPr b="1" sz="1050">
                <a:solidFill>
                  <a:srgbClr val="0F172A"/>
                </a:solidFill>
              </a:rPr>
              <a:t>• Real Data Ingestion:</a:t>
            </a:r>
            <a:r>
              <a:rPr sz="1050">
                <a:solidFill>
                  <a:srgbClr val="1E293B"/>
                </a:solidFill>
              </a:rPr>
              <a:t> Fetches live precipitation &amp; 48h rain from Open-Meteo/IMD APIs across 15+ NER stations; integrates NASA SRTM 30m DEM slope angles.</a:t>
            </a:r>
          </a:p>
          <a:p>
            <a:r>
              <a:rPr b="1" sz="1050">
                <a:solidFill>
                  <a:srgbClr val="0F172A"/>
                </a:solidFill>
              </a:rPr>
              <a:t>• Explainable AI Hazard Engine:</a:t>
            </a:r>
            <a:r>
              <a:rPr sz="1050">
                <a:solidFill>
                  <a:srgbClr val="1E293B"/>
                </a:solidFill>
              </a:rPr>
              <a:t> Gradient Boosting model predicts 0-100 hazard risk with feature importance breakdown (Rain vs Slope vs Soil vs GSI History).</a:t>
            </a:r>
          </a:p>
          <a:p>
            <a:r>
              <a:rPr b="1" sz="1050">
                <a:solidFill>
                  <a:srgbClr val="0F172A"/>
                </a:solidFill>
              </a:rPr>
              <a:t>• Dynamic Corridor Rerouting:</a:t>
            </a:r>
            <a:r>
              <a:rPr sz="1050">
                <a:solidFill>
                  <a:srgbClr val="1E293B"/>
                </a:solidFill>
              </a:rPr>
              <a:t> Automatically re-plans routes around blocked corridors (e.g., NH-27 bypass around NH-6 Sonapur) with live delta ETAs.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400">
                <a:solidFill>
                  <a:srgbClr val="0D9488"/>
                </a:solidFill>
              </a:defRPr>
            </a:pPr>
            <a:r>
              <a:t>How It Addresses Problem &amp; Key Innovations</a:t>
            </a:r>
          </a:p>
          <a:p>
            <a:r>
              <a:rPr b="1" sz="1050">
                <a:solidFill>
                  <a:srgbClr val="0D9488"/>
                </a:solidFill>
              </a:rPr>
              <a:t>• Cargo-Criticality Weighting (Novel):</a:t>
            </a:r>
            <a:r>
              <a:rPr sz="1050">
                <a:solidFill>
                  <a:srgbClr val="1E293B"/>
                </a:solidFill>
              </a:rPr>
              <a:t> 85% safety priority for Emergency Medicine &amp; Oxygen vs 25% for Commercial Bulk. Eliminates life-or-death stranding.</a:t>
            </a:r>
          </a:p>
          <a:p>
            <a:r>
              <a:rPr b="1" sz="1050">
                <a:solidFill>
                  <a:srgbClr val="0D9488"/>
                </a:solidFill>
              </a:rPr>
              <a:t>• Offline-First Field Officer PWA:</a:t>
            </a:r>
            <a:r>
              <a:rPr sz="1050">
                <a:solidFill>
                  <a:srgbClr val="1E293B"/>
                </a:solidFill>
              </a:rPr>
              <a:t> Enables patrol officers in remote 0-network valleys to submit geo-photo incident reports cached locally in IndexedDB with auto-sync.</a:t>
            </a:r>
          </a:p>
          <a:p>
            <a:r>
              <a:rPr b="1" sz="1050">
                <a:solidFill>
                  <a:srgbClr val="0D9488"/>
                </a:solidFill>
              </a:rPr>
              <a:t>• Multilingual Emergency Broadcaster:</a:t>
            </a:r>
            <a:r>
              <a:rPr sz="1050">
                <a:solidFill>
                  <a:srgbClr val="1E293B"/>
                </a:solidFill>
              </a:rPr>
              <a:t> Translates road alerts into 6 regional languages (Assamese, Mizo, Manipuri, Bengali, Hindi, English) with synthesized voice audio.</a:t>
            </a:r>
          </a:p>
          <a:p>
            <a:r>
              <a:rPr b="1" sz="1050">
                <a:solidFill>
                  <a:srgbClr val="0D9488"/>
                </a:solidFill>
              </a:rPr>
              <a:t>• 1-Click Disruption Simulator:</a:t>
            </a:r>
            <a:r>
              <a:rPr sz="1050">
                <a:solidFill>
                  <a:srgbClr val="1E293B"/>
                </a:solidFill>
              </a:rPr>
              <a:t> Allows live evaluators to trigger instant landslides (NH-6, NH-10, NH-29) to verify automated rerouting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TECHNICAL APPROACH &amp; ARCHITECTURE</a:t>
            </a:r>
          </a:p>
          <a:p>
            <a:pPr>
              <a:defRPr sz="1000">
                <a:solidFill>
                  <a:srgbClr val="10B981"/>
                </a:solidFill>
                <a:latin typeface="Arial"/>
              </a:defRPr>
            </a:pPr>
            <a:r>
              <a:t>SMART INDIA HACKATHON 2026  |  SIH 2026 Idea Submission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NER-LRP: AI &amp; GIS-Driven Regional Logistics Control Tower for Northeast India  |  @SIH Idea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b="1" sz="1250">
                <a:solidFill>
                  <a:srgbClr val="1E3A8A"/>
                </a:solidFill>
              </a:defRPr>
            </a:pPr>
            <a:r>
              <a:t>Backend &amp; Data Ingestion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Python FastAPI (High-performance Async)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Open-Meteo &amp; IMD Live Weather APIs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SRTM DEM Elevation &amp; Slope Models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SQLite ACID Database &amp; Spatial 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b="1" sz="1250">
                <a:solidFill>
                  <a:srgbClr val="0D9488"/>
                </a:solidFill>
              </a:defRPr>
            </a:pPr>
            <a:r>
              <a:t>AI / ML &amp; Routing Engine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Scikit-Learn Gradient Boosting Regressor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Multi-Factor Hazard Scoring (0-100)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Dijkstra Multi-Objective Graph Router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Cargo-Criticality Priority Cost 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383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b="1" sz="1250">
                <a:solidFill>
                  <a:srgbClr val="10B981"/>
                </a:solidFill>
              </a:defRPr>
            </a:pPr>
            <a:r>
              <a:t>Frontend, GIS &amp; PWA Suite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React 18 + Vite + Tailwind CSS Dark UI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Leaflet GIS + React-Leaflet Map Layers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Offline PWA + IndexedDB Sync Queue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Web Speech API (6-Language Voice Audio)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End-to-End Implementation Methodology &amp; Process Workflow</a:t>
            </a:r>
          </a:p>
          <a:p>
            <a:r>
              <a:rPr b="1" sz="1000">
                <a:solidFill>
                  <a:srgbClr val="1E3A8A"/>
                </a:solidFill>
              </a:rPr>
              <a:t>1. Real Ingestion: </a:t>
            </a:r>
            <a:r>
              <a:rPr sz="1000">
                <a:solidFill>
                  <a:srgbClr val="1E293B"/>
                </a:solidFill>
              </a:rPr>
              <a:t> Queries live rain, wind &amp; soil moisture from Open-Meteo for 15+ NER stations; pairs with SRTM 30m slope gradients.</a:t>
            </a:r>
          </a:p>
          <a:p>
            <a:r>
              <a:rPr b="1" sz="1000">
                <a:solidFill>
                  <a:srgbClr val="1E3A8A"/>
                </a:solidFill>
              </a:rPr>
              <a:t>2. ML Hazard Scoring: </a:t>
            </a:r>
            <a:r>
              <a:rPr sz="1000">
                <a:solidFill>
                  <a:srgbClr val="1E293B"/>
                </a:solidFill>
              </a:rPr>
              <a:t> Gradient Boosting regressor calculates 0-100 composite risk score with explainable feature importance attribution.</a:t>
            </a:r>
          </a:p>
          <a:p>
            <a:r>
              <a:rPr b="1" sz="1000">
                <a:solidFill>
                  <a:srgbClr val="1E3A8A"/>
                </a:solidFill>
              </a:rPr>
              <a:t>3. Cargo Prioritization: </a:t>
            </a:r>
            <a:r>
              <a:rPr sz="1000">
                <a:solidFill>
                  <a:srgbClr val="1E293B"/>
                </a:solidFill>
              </a:rPr>
              <a:t> Multi-objective Dijkstra router optimizes path based on cargo type (Medical: 85% safety; Bulk: 75% speed).</a:t>
            </a:r>
          </a:p>
          <a:p>
            <a:r>
              <a:rPr b="1" sz="1000">
                <a:solidFill>
                  <a:srgbClr val="1E3A8A"/>
                </a:solidFill>
              </a:rPr>
              <a:t>4. Control Tower &amp; PWA: </a:t>
            </a:r>
            <a:r>
              <a:rPr sz="1000">
                <a:solidFill>
                  <a:srgbClr val="1E293B"/>
                </a:solidFill>
              </a:rPr>
              <a:t> Live GIS dark map renders color-coded corridors; offline PWA captures geo-photos in remote mountain valleys.</a:t>
            </a:r>
          </a:p>
          <a:p>
            <a:r>
              <a:rPr b="1" sz="1000">
                <a:solidFill>
                  <a:srgbClr val="1E3A8A"/>
                </a:solidFill>
              </a:rPr>
              <a:t>5. Voice &amp; SMS Dispatch: </a:t>
            </a:r>
            <a:r>
              <a:rPr sz="1000">
                <a:solidFill>
                  <a:srgbClr val="1E293B"/>
                </a:solidFill>
              </a:rPr>
              <a:t> Generates synthesized voice audio and WhatsApp/SMS alerts translated into 6 Northeast regional languages.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FEASIBILITY, VIABILITY &amp; RISK MITIGATION</a:t>
            </a:r>
          </a:p>
          <a:p>
            <a:pPr>
              <a:defRPr sz="1000">
                <a:solidFill>
                  <a:srgbClr val="10B981"/>
                </a:solidFill>
                <a:latin typeface="Arial"/>
              </a:defRPr>
            </a:pPr>
            <a:r>
              <a:t>SMART INDIA HACKATHON 2026  |  SIH 2026 Idea Submission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NER-LRP: AI &amp; GIS-Driven Regional Logistics Control Tower for Northeast India  |  @SIH Idea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Feasibility &amp; Prototyping</a:t>
            </a:r>
          </a:p>
          <a:p>
            <a:r>
              <a:rPr b="1" sz="1000">
                <a:solidFill>
                  <a:srgbClr val="0F172A"/>
                </a:solidFill>
              </a:rPr>
              <a:t>• Open Data Architecture: </a:t>
            </a:r>
            <a:r>
              <a:rPr sz="1000">
                <a:solidFill>
                  <a:srgbClr val="1E293B"/>
                </a:solidFill>
              </a:rPr>
              <a:t> Fully built on free, open APIs (Open-Meteo, OpenStreetMap, NASA SRTM DEM). Zero paid API dependencies.</a:t>
            </a:r>
          </a:p>
          <a:p>
            <a:r>
              <a:rPr b="1" sz="1000">
                <a:solidFill>
                  <a:srgbClr val="0F172A"/>
                </a:solidFill>
              </a:rPr>
              <a:t>• Working End-to-End Prototype: </a:t>
            </a:r>
            <a:r>
              <a:rPr sz="1000">
                <a:solidFill>
                  <a:srgbClr val="1E293B"/>
                </a:solidFill>
              </a:rPr>
              <a:t> Complete full-stack prototype active on local/cloud ports with 21 passing automated unit tests.</a:t>
            </a:r>
          </a:p>
          <a:p>
            <a:r>
              <a:rPr b="1" sz="1000">
                <a:solidFill>
                  <a:srgbClr val="0F172A"/>
                </a:solidFill>
              </a:rPr>
              <a:t>• Corridor-Scale Validation: </a:t>
            </a:r>
            <a:r>
              <a:rPr sz="1000">
                <a:solidFill>
                  <a:srgbClr val="1E293B"/>
                </a:solidFill>
              </a:rPr>
              <a:t> Validated across major Northeast lifelines: NH-10 (Sikkim), NH-6 (Meghalaya-Barak), NH-29 (Nagaland), NH-27 (Assam Bypass).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b="1" sz="1300">
                <a:solidFill>
                  <a:srgbClr val="F59E0B"/>
                </a:solidFill>
              </a:defRPr>
            </a:pPr>
            <a:r>
              <a:t>Potential Challenges &amp; Risks</a:t>
            </a:r>
          </a:p>
          <a:p>
            <a:r>
              <a:rPr b="1" sz="1000">
                <a:solidFill>
                  <a:srgbClr val="0F172A"/>
                </a:solidFill>
              </a:rPr>
              <a:t>• Government Fleet Data Locked: </a:t>
            </a:r>
            <a:r>
              <a:rPr sz="1000">
                <a:solidFill>
                  <a:srgbClr val="1E293B"/>
                </a:solidFill>
              </a:rPr>
              <a:t> Live vehicle GPS and ULIP feeds require formal NDAs and ministry clearances.</a:t>
            </a:r>
          </a:p>
          <a:p>
            <a:r>
              <a:rPr b="1" sz="1000">
                <a:solidFill>
                  <a:srgbClr val="0F172A"/>
                </a:solidFill>
              </a:rPr>
              <a:t>• Cellular Blackouts in Remote Ghats: </a:t>
            </a:r>
            <a:r>
              <a:rPr sz="1000">
                <a:solidFill>
                  <a:srgbClr val="1E293B"/>
                </a:solidFill>
              </a:rPr>
              <a:t> Mountain passes frequently suffer from zero 4G/5G mobile connectivity.</a:t>
            </a:r>
          </a:p>
          <a:p>
            <a:r>
              <a:rPr b="1" sz="1000">
                <a:solidFill>
                  <a:srgbClr val="0F172A"/>
                </a:solidFill>
              </a:rPr>
              <a:t>• Non-linear Himalayan Terrain: </a:t>
            </a:r>
            <a:r>
              <a:rPr sz="1000">
                <a:solidFill>
                  <a:srgbClr val="1E293B"/>
                </a:solidFill>
              </a:rPr>
              <a:t> Flash floods and cloudbursts can cause sudden unforeseen landslides.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b="1" sz="1300">
                <a:solidFill>
                  <a:srgbClr val="1E3A8A"/>
                </a:solidFill>
              </a:defRPr>
            </a:pPr>
            <a:r>
              <a:t>Mitigation &amp; Scalability Strategies</a:t>
            </a:r>
          </a:p>
          <a:p>
            <a:r>
              <a:rPr b="1" sz="1000">
                <a:solidFill>
                  <a:srgbClr val="0F172A"/>
                </a:solidFill>
              </a:rPr>
              <a:t>• Modular Ingestion Adapter: </a:t>
            </a:r>
            <a:r>
              <a:rPr sz="1000">
                <a:solidFill>
                  <a:srgbClr val="1E293B"/>
                </a:solidFill>
              </a:rPr>
              <a:t> Designed to plug into live ULIP / state transport APIs seamlessly when authorized.</a:t>
            </a:r>
          </a:p>
          <a:p>
            <a:r>
              <a:rPr b="1" sz="1000">
                <a:solidFill>
                  <a:srgbClr val="0F172A"/>
                </a:solidFill>
              </a:rPr>
              <a:t>• Offline-First PWA Local Storage: </a:t>
            </a:r>
            <a:r>
              <a:rPr sz="1000">
                <a:solidFill>
                  <a:srgbClr val="1E293B"/>
                </a:solidFill>
              </a:rPr>
              <a:t> Stores field reports in IndexedDB; auto-syncs with idempotent protocol upon network recovery.</a:t>
            </a:r>
          </a:p>
          <a:p>
            <a:r>
              <a:rPr b="1" sz="1000">
                <a:solidFill>
                  <a:srgbClr val="0F172A"/>
                </a:solidFill>
              </a:rPr>
              <a:t>• Hybrid Physics + ML Scoring: </a:t>
            </a:r>
            <a:r>
              <a:rPr sz="1000">
                <a:solidFill>
                  <a:srgbClr val="1E293B"/>
                </a:solidFill>
              </a:rPr>
              <a:t> Combines empirical Indian Road Congress (IRC) slope rules with GBDT predictive scoring.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IMPACT, BENEFITS &amp; STAKEHOLDER VALUE</a:t>
            </a:r>
          </a:p>
          <a:p>
            <a:pPr>
              <a:defRPr sz="1000">
                <a:solidFill>
                  <a:srgbClr val="10B981"/>
                </a:solidFill>
                <a:latin typeface="Arial"/>
              </a:defRPr>
            </a:pPr>
            <a:r>
              <a:t>SMART INDIA HACKATHON 2026  |  SIH 2026 Idea Submission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NER-LRP: AI &amp; GIS-Driven Regional Logistics Control Tower for Northeast India  |  @SIH Idea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b="1" sz="1250">
                <a:solidFill>
                  <a:srgbClr val="1E3A8A"/>
                </a:solidFill>
              </a:defRPr>
            </a:pPr>
            <a:r>
              <a:t>👥 Target Audience Impact</a:t>
            </a:r>
          </a:p>
          <a:p>
            <a:r>
              <a:rPr b="1" sz="950">
                <a:solidFill>
                  <a:srgbClr val="0F172A"/>
                </a:solidFill>
              </a:rPr>
              <a:t>• MDoNER &amp; SDMAs: </a:t>
            </a:r>
            <a:r>
              <a:rPr sz="950">
                <a:solidFill>
                  <a:srgbClr val="1E293B"/>
                </a:solidFill>
              </a:rPr>
              <a:t> Unified regional control tower across all 8 Northeast states for coordinated disaster response.</a:t>
            </a:r>
          </a:p>
          <a:p>
            <a:r>
              <a:rPr b="1" sz="950">
                <a:solidFill>
                  <a:srgbClr val="0F172A"/>
                </a:solidFill>
              </a:rPr>
              <a:t>• Hospitals &amp; Clinics: </a:t>
            </a:r>
            <a:r>
              <a:rPr sz="950">
                <a:solidFill>
                  <a:srgbClr val="1E293B"/>
                </a:solidFill>
              </a:rPr>
              <a:t> Guarantees zero stock-out of emergency oxygen, anti-venoms, and cold-chain vaccines.</a:t>
            </a:r>
          </a:p>
          <a:p>
            <a:r>
              <a:rPr b="1" sz="950">
                <a:solidFill>
                  <a:srgbClr val="0F172A"/>
                </a:solidFill>
              </a:rPr>
              <a:t>• Transporters &amp; Drivers: </a:t>
            </a:r>
            <a:r>
              <a:rPr sz="950">
                <a:solidFill>
                  <a:srgbClr val="1E293B"/>
                </a:solidFill>
              </a:rPr>
              <a:t> Hands-free multilingual audio alerts prevent getting trapped in 48-hour mountain jams.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b="1" sz="1250">
                <a:solidFill>
                  <a:srgbClr val="10B981"/>
                </a:solidFill>
              </a:defRPr>
            </a:pPr>
            <a:r>
              <a:t>💰 Economic Benefits</a:t>
            </a:r>
          </a:p>
          <a:p>
            <a:r>
              <a:rPr b="1" sz="950">
                <a:solidFill>
                  <a:srgbClr val="0F172A"/>
                </a:solidFill>
              </a:rPr>
              <a:t>• Inflation Suppression: </a:t>
            </a:r>
            <a:r>
              <a:rPr sz="950">
                <a:solidFill>
                  <a:srgbClr val="1E293B"/>
                </a:solidFill>
              </a:rPr>
              <a:t> Prevents local price spikes (&gt;20%) in isolated districts (Mizoram, Sikkim, Nagaland).</a:t>
            </a:r>
          </a:p>
          <a:p>
            <a:r>
              <a:rPr b="1" sz="950">
                <a:solidFill>
                  <a:srgbClr val="0F172A"/>
                </a:solidFill>
              </a:rPr>
              <a:t>• Fuel &amp; Delay Savings: </a:t>
            </a:r>
            <a:r>
              <a:rPr sz="950">
                <a:solidFill>
                  <a:srgbClr val="1E293B"/>
                </a:solidFill>
              </a:rPr>
              <a:t> Cuts vehicle idling and turnaround times by 15-25% through planned bypass diversions.</a:t>
            </a:r>
          </a:p>
          <a:p>
            <a:r>
              <a:rPr b="1" sz="950">
                <a:solidFill>
                  <a:srgbClr val="0F172A"/>
                </a:solidFill>
              </a:rPr>
              <a:t>• Fleet Asset Protection: </a:t>
            </a:r>
            <a:r>
              <a:rPr sz="950">
                <a:solidFill>
                  <a:srgbClr val="1E293B"/>
                </a:solidFill>
              </a:rPr>
              <a:t> Prevents multi-crore truck damages from rockfalls and sudden landslide collapses.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b="1" sz="1250">
                <a:solidFill>
                  <a:srgbClr val="0D9488"/>
                </a:solidFill>
              </a:defRPr>
            </a:pPr>
            <a:r>
              <a:t>🌿 Social &amp; Environmental Benefits</a:t>
            </a:r>
          </a:p>
          <a:p>
            <a:r>
              <a:rPr b="1" sz="950">
                <a:solidFill>
                  <a:srgbClr val="0F172A"/>
                </a:solidFill>
              </a:rPr>
              <a:t>• Supply Reliability: </a:t>
            </a:r>
            <a:r>
              <a:rPr sz="950">
                <a:solidFill>
                  <a:srgbClr val="1E293B"/>
                </a:solidFill>
              </a:rPr>
              <a:t> Uninterrupted food grain, PDS rations, and baby food delivery to isolated tribal hamlets.</a:t>
            </a:r>
          </a:p>
          <a:p>
            <a:r>
              <a:rPr b="1" sz="950">
                <a:solidFill>
                  <a:srgbClr val="0F172A"/>
                </a:solidFill>
              </a:rPr>
              <a:t>• Reduced Carbon Burn: </a:t>
            </a:r>
            <a:r>
              <a:rPr sz="950">
                <a:solidFill>
                  <a:srgbClr val="1E293B"/>
                </a:solidFill>
              </a:rPr>
              <a:t> Eliminates thousands of hours of diesel engine idling during highway blockades.</a:t>
            </a:r>
          </a:p>
          <a:p>
            <a:r>
              <a:rPr b="1" sz="950">
                <a:solidFill>
                  <a:srgbClr val="0F172A"/>
                </a:solidFill>
              </a:rPr>
              <a:t>• Rural Empowerment: </a:t>
            </a:r>
            <a:r>
              <a:rPr sz="950">
                <a:solidFill>
                  <a:srgbClr val="1E293B"/>
                </a:solidFill>
              </a:rPr>
              <a:t> Provides local field scouts and village heads a direct voice to central command via PWA.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b="1" sz="1250">
                <a:solidFill>
                  <a:srgbClr val="0F172A"/>
                </a:solidFill>
              </a:defRPr>
            </a:pPr>
            <a:r>
              <a:t>🛡️ System Resilience &amp; PM GatiShakti</a:t>
            </a:r>
          </a:p>
          <a:p>
            <a:r>
              <a:rPr b="1" sz="950">
                <a:solidFill>
                  <a:srgbClr val="0F172A"/>
                </a:solidFill>
              </a:rPr>
              <a:t>• Emergency Corridor Identification: </a:t>
            </a:r>
            <a:r>
              <a:rPr sz="950">
                <a:solidFill>
                  <a:srgbClr val="1E293B"/>
                </a:solidFill>
              </a:rPr>
              <a:t> Uncovers secondary state highways and defense bypasses during primary closures.</a:t>
            </a:r>
          </a:p>
          <a:p>
            <a:r>
              <a:rPr b="1" sz="950">
                <a:solidFill>
                  <a:srgbClr val="0F172A"/>
                </a:solidFill>
              </a:rPr>
              <a:t>• GatiShakti Alignment: </a:t>
            </a:r>
            <a:r>
              <a:rPr sz="950">
                <a:solidFill>
                  <a:srgbClr val="1E293B"/>
                </a:solidFill>
              </a:rPr>
              <a:t> Integrates multi-modal GIS layers to assist infrastructure planners in fortifying slope cuts.</a:t>
            </a:r>
          </a:p>
          <a:p>
            <a:r>
              <a:rPr b="1" sz="950">
                <a:solidFill>
                  <a:srgbClr val="0F172A"/>
                </a:solidFill>
              </a:rPr>
              <a:t>• Scale beyond Hackathon: </a:t>
            </a:r>
            <a:r>
              <a:rPr sz="950">
                <a:solidFill>
                  <a:srgbClr val="1E293B"/>
                </a:solidFill>
              </a:rPr>
              <a:t> Scalable to all Himalayan mountain regions (Uttarakhand, Himachal, Jammu &amp; Kashmir).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RESEARCH, CITATIONS &amp; REFERENCES</a:t>
            </a:r>
          </a:p>
          <a:p>
            <a:pPr>
              <a:defRPr sz="1000">
                <a:solidFill>
                  <a:srgbClr val="10B981"/>
                </a:solidFill>
                <a:latin typeface="Arial"/>
              </a:defRPr>
            </a:pPr>
            <a:r>
              <a:t>SMART INDIA HACKATHON 2026  |  SIH 2026 Idea Submission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NER-LRP: AI &amp; GIS-Driven Regional Logistics Control Tower for Northeast India  |  @SIH Idea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50">
                <a:solidFill>
                  <a:srgbClr val="1E3A8A"/>
                </a:solidFill>
              </a:defRPr>
            </a:pPr>
            <a:r>
              <a:t>Geospatial Data &amp; Scientific Literature</a:t>
            </a:r>
          </a:p>
          <a:p>
            <a:r>
              <a:rPr b="1" sz="1000">
                <a:solidFill>
                  <a:srgbClr val="0F172A"/>
                </a:solidFill>
              </a:rPr>
              <a:t>1. Geological Survey of India (GSI):
</a:t>
            </a:r>
            <a:r>
              <a:rPr sz="950">
                <a:solidFill>
                  <a:srgbClr val="1E293B"/>
                </a:solidFill>
              </a:rPr>
              <a:t> National Landslide Susceptibility Mapping (NLSM) and Landslide Hazard Zonation (LHZ) protocols for Northeast India.</a:t>
            </a:r>
          </a:p>
          <a:p>
            <a:r>
              <a:rPr b="1" sz="1000">
                <a:solidFill>
                  <a:srgbClr val="0F172A"/>
                </a:solidFill>
              </a:rPr>
              <a:t>2. Academic ML Research (Eastern Himalayas):
</a:t>
            </a:r>
            <a:r>
              <a:rPr sz="950">
                <a:solidFill>
                  <a:srgbClr val="1E293B"/>
                </a:solidFill>
              </a:rPr>
              <a:t> XGBoost / LightGBM models for landslide susceptibility in NE India (Dibang Valley &amp; Nagaland, achieving AUC ~0.96 and ~0.89).</a:t>
            </a:r>
          </a:p>
          <a:p>
            <a:r>
              <a:rPr b="1" sz="1000">
                <a:solidFill>
                  <a:srgbClr val="0F172A"/>
                </a:solidFill>
              </a:rPr>
              <a:t>3. NASA SRTM 30m Digital Elevation Model:
</a:t>
            </a:r>
            <a:r>
              <a:rPr sz="950">
                <a:solidFill>
                  <a:srgbClr val="1E293B"/>
                </a:solidFill>
              </a:rPr>
              <a:t> High-resolution digital elevation data used for terrain slope and drainage gradient modeling across Himalayan highways.</a:t>
            </a:r>
          </a:p>
          <a:p>
            <a:r>
              <a:rPr b="1" sz="1000">
                <a:solidFill>
                  <a:srgbClr val="0F172A"/>
                </a:solidFill>
              </a:rPr>
              <a:t>4. Open-Meteo &amp; IMD Meteorological Data:
</a:t>
            </a:r>
            <a:r>
              <a:rPr sz="950">
                <a:solidFill>
                  <a:srgbClr val="1E293B"/>
                </a:solidFill>
              </a:rPr>
              <a:t> Public API endpoints providing live precipitation, 48-hour cumulative rainfall, and Doppler weather radar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50">
                <a:solidFill>
                  <a:srgbClr val="0D9488"/>
                </a:solidFill>
              </a:defRPr>
            </a:pPr>
            <a:r>
              <a:t>Government Policies, Frameworks &amp; Standards</a:t>
            </a:r>
          </a:p>
          <a:p>
            <a:r>
              <a:rPr b="1" sz="1000">
                <a:solidFill>
                  <a:srgbClr val="0D9488"/>
                </a:solidFill>
              </a:rPr>
              <a:t>5. PM GatiShakti National Master Plan:
</a:t>
            </a:r>
            <a:r>
              <a:rPr sz="950">
                <a:solidFill>
                  <a:srgbClr val="1E293B"/>
                </a:solidFill>
              </a:rPr>
              <a:t> Ministry of Commerce &amp; Industry digital planning mandate for multimodal connectivity and logistics infrastructure resilience.</a:t>
            </a:r>
          </a:p>
          <a:p>
            <a:r>
              <a:rPr b="1" sz="1000">
                <a:solidFill>
                  <a:srgbClr val="0D9488"/>
                </a:solidFill>
              </a:rPr>
              <a:t>6. High-Level Task Force (HLTF) NER Report:
</a:t>
            </a:r>
            <a:r>
              <a:rPr sz="950">
                <a:solidFill>
                  <a:srgbClr val="1E293B"/>
                </a:solidFill>
              </a:rPr>
              <a:t> Official MDoNER reports detailing transport bottlenecks, logistics costs, and the 20% price inflation in remote hill states.</a:t>
            </a:r>
          </a:p>
          <a:p>
            <a:r>
              <a:rPr b="1" sz="1000">
                <a:solidFill>
                  <a:srgbClr val="0D9488"/>
                </a:solidFill>
              </a:rPr>
              <a:t>7. ULIP (Unified Logistics Interface Platform):
</a:t>
            </a:r>
            <a:r>
              <a:rPr sz="950">
                <a:solidFill>
                  <a:srgbClr val="1E293B"/>
                </a:solidFill>
              </a:rPr>
              <a:t> National Logistics Policy framework integrating multi-ministry vehicle telematics and digital transport documentation.</a:t>
            </a:r>
          </a:p>
          <a:p>
            <a:r>
              <a:rPr b="1" sz="1000">
                <a:solidFill>
                  <a:srgbClr val="0D9488"/>
                </a:solidFill>
              </a:rPr>
              <a:t>8. OpenStreetMap (OSM) &amp; OSRM Routing Engine:
</a:t>
            </a:r>
            <a:r>
              <a:rPr sz="950">
                <a:solidFill>
                  <a:srgbClr val="1E293B"/>
                </a:solidFill>
              </a:rPr>
              <a:t> Open-source road network graph and multi-criteria routing algorithms customized for heavy truck transport.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